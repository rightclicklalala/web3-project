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70" r:id="rId12"/>
    <p:sldId id="271" r:id="rId13"/>
    <p:sldId id="272" r:id="rId14"/>
    <p:sldId id="274" r:id="rId15"/>
    <p:sldId id="275" r:id="rId16"/>
    <p:sldId id="276" r:id="rId17"/>
  </p:sldIdLst>
  <p:sldSz cx="9144000" cy="6858000" type="screen4x3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B7A47-62FA-4232-B491-BDD3836F96AB}" v="11" dt="2026-05-18T03:24:51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8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1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珍 黃" userId="57144cdd369c05e8" providerId="LiveId" clId="{586F2C4D-E43A-4A59-BD79-FBF5904AB263}"/>
    <pc:docChg chg="custSel addSld delSld modSld">
      <pc:chgData name="于珍 黃" userId="57144cdd369c05e8" providerId="LiveId" clId="{586F2C4D-E43A-4A59-BD79-FBF5904AB263}" dt="2026-05-18T03:24:55.504" v="107" actId="12"/>
      <pc:docMkLst>
        <pc:docMk/>
      </pc:docMkLst>
      <pc:sldChg chg="addSp delSp modSp mod chgLayout">
        <pc:chgData name="于珍 黃" userId="57144cdd369c05e8" providerId="LiveId" clId="{586F2C4D-E43A-4A59-BD79-FBF5904AB263}" dt="2026-05-14T03:56:30.182" v="3" actId="27636"/>
        <pc:sldMkLst>
          <pc:docMk/>
          <pc:sldMk cId="0" sldId="256"/>
        </pc:sldMkLst>
        <pc:spChg chg="mod ord">
          <ac:chgData name="于珍 黃" userId="57144cdd369c05e8" providerId="LiveId" clId="{586F2C4D-E43A-4A59-BD79-FBF5904AB263}" dt="2026-05-14T03:56:30.142" v="2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6:30.182" v="3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7:18.014" v="11" actId="20577"/>
        <pc:sldMkLst>
          <pc:docMk/>
          <pc:sldMk cId="0" sldId="257"/>
        </pc:sldMkLst>
        <pc:spChg chg="mod ord">
          <ac:chgData name="于珍 黃" userId="57144cdd369c05e8" providerId="LiveId" clId="{586F2C4D-E43A-4A59-BD79-FBF5904AB263}" dt="2026-05-14T03:57:18.014" v="11" actId="20577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7:14.343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7:35.309" v="12" actId="12"/>
        <pc:sldMkLst>
          <pc:docMk/>
          <pc:sldMk cId="0" sldId="258"/>
        </pc:sldMkLst>
        <pc:spChg chg="mod ord">
          <ac:chgData name="于珍 黃" userId="57144cdd369c05e8" providerId="LiveId" clId="{586F2C4D-E43A-4A59-BD79-FBF5904AB263}" dt="2026-05-14T03:56:41.473" v="5" actId="700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7:35.309" v="12" actId="12"/>
          <ac:spMkLst>
            <pc:docMk/>
            <pc:sldMk cId="0" sldId="258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6:46.225" v="6" actId="700"/>
        <pc:sldMkLst>
          <pc:docMk/>
          <pc:sldMk cId="0" sldId="259"/>
        </pc:sldMkLst>
        <pc:spChg chg="mod ord">
          <ac:chgData name="于珍 黃" userId="57144cdd369c05e8" providerId="LiveId" clId="{586F2C4D-E43A-4A59-BD79-FBF5904AB263}" dt="2026-05-14T03:56:46.225" v="6" actId="700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6:46.225" v="6" actId="700"/>
          <ac:spMkLst>
            <pc:docMk/>
            <pc:sldMk cId="0" sldId="259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6:50.235" v="7" actId="700"/>
        <pc:sldMkLst>
          <pc:docMk/>
          <pc:sldMk cId="0" sldId="260"/>
        </pc:sldMkLst>
        <pc:spChg chg="mod ord">
          <ac:chgData name="于珍 黃" userId="57144cdd369c05e8" providerId="LiveId" clId="{586F2C4D-E43A-4A59-BD79-FBF5904AB263}" dt="2026-05-14T03:56:50.235" v="7" actId="700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6:50.235" v="7" actId="700"/>
          <ac:spMkLst>
            <pc:docMk/>
            <pc:sldMk cId="0" sldId="260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8:17.641" v="22" actId="113"/>
        <pc:sldMkLst>
          <pc:docMk/>
          <pc:sldMk cId="0" sldId="261"/>
        </pc:sldMkLst>
        <pc:spChg chg="mod ord">
          <ac:chgData name="于珍 黃" userId="57144cdd369c05e8" providerId="LiveId" clId="{586F2C4D-E43A-4A59-BD79-FBF5904AB263}" dt="2026-05-14T03:56:52.738" v="8" actId="700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8:17.641" v="2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8:38.675" v="23" actId="20577"/>
        <pc:sldMkLst>
          <pc:docMk/>
          <pc:sldMk cId="0" sldId="262"/>
        </pc:sldMkLst>
        <pc:spChg chg="mod ord">
          <ac:chgData name="于珍 黃" userId="57144cdd369c05e8" providerId="LiveId" clId="{586F2C4D-E43A-4A59-BD79-FBF5904AB263}" dt="2026-05-14T03:56:55.436" v="9" actId="700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8:38.675" v="23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7:38:13.215" v="48" actId="20577"/>
        <pc:sldMkLst>
          <pc:docMk/>
          <pc:sldMk cId="0" sldId="267"/>
        </pc:sldMkLst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67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7:38:13.215" v="48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9:44.042" v="27" actId="700"/>
        <pc:sldMkLst>
          <pc:docMk/>
          <pc:sldMk cId="0" sldId="268"/>
        </pc:sldMkLst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68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9:44.042" v="27" actId="700"/>
        <pc:sldMkLst>
          <pc:docMk/>
          <pc:sldMk cId="0" sldId="269"/>
        </pc:sldMkLst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69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69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4:00:46.570" v="34" actId="20577"/>
        <pc:sldMkLst>
          <pc:docMk/>
          <pc:sldMk cId="0" sldId="270"/>
        </pc:sldMkLst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70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4:00:46.570" v="34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9:44.042" v="27" actId="700"/>
        <pc:sldMkLst>
          <pc:docMk/>
          <pc:sldMk cId="0" sldId="271"/>
        </pc:sldMkLst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71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71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9:44.042" v="27" actId="700"/>
        <pc:sldMkLst>
          <pc:docMk/>
          <pc:sldMk cId="0" sldId="272"/>
        </pc:sldMkLst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72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72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3:59:44.042" v="27" actId="700"/>
        <pc:sldMkLst>
          <pc:docMk/>
          <pc:sldMk cId="0" sldId="274"/>
        </pc:sldMkLst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74"/>
            <ac:spMk id="3" creationId="{00000000-0000-0000-0000-000000000000}"/>
          </ac:spMkLst>
        </pc:spChg>
      </pc:sldChg>
      <pc:sldChg chg="modSp mod modClrScheme chgLayout">
        <pc:chgData name="于珍 黃" userId="57144cdd369c05e8" providerId="LiveId" clId="{586F2C4D-E43A-4A59-BD79-FBF5904AB263}" dt="2026-05-14T04:01:47.430" v="42" actId="20577"/>
        <pc:sldMkLst>
          <pc:docMk/>
          <pc:sldMk cId="0" sldId="275"/>
        </pc:sldMkLst>
        <pc:spChg chg="mod ord">
          <ac:chgData name="于珍 黃" userId="57144cdd369c05e8" providerId="LiveId" clId="{586F2C4D-E43A-4A59-BD79-FBF5904AB263}" dt="2026-05-14T03:59:44.042" v="27" actId="700"/>
          <ac:spMkLst>
            <pc:docMk/>
            <pc:sldMk cId="0" sldId="275"/>
            <ac:spMk id="2" creationId="{00000000-0000-0000-0000-000000000000}"/>
          </ac:spMkLst>
        </pc:spChg>
        <pc:spChg chg="mod ord">
          <ac:chgData name="于珍 黃" userId="57144cdd369c05e8" providerId="LiveId" clId="{586F2C4D-E43A-4A59-BD79-FBF5904AB263}" dt="2026-05-14T04:01:47.430" v="42" actId="20577"/>
          <ac:spMkLst>
            <pc:docMk/>
            <pc:sldMk cId="0" sldId="275"/>
            <ac:spMk id="3" creationId="{00000000-0000-0000-0000-000000000000}"/>
          </ac:spMkLst>
        </pc:spChg>
      </pc:sldChg>
      <pc:sldChg chg="modSp new mod">
        <pc:chgData name="于珍 黃" userId="57144cdd369c05e8" providerId="LiveId" clId="{586F2C4D-E43A-4A59-BD79-FBF5904AB263}" dt="2026-05-18T03:24:55.504" v="107" actId="12"/>
        <pc:sldMkLst>
          <pc:docMk/>
          <pc:sldMk cId="546634431" sldId="276"/>
        </pc:sldMkLst>
        <pc:spChg chg="mod">
          <ac:chgData name="于珍 黃" userId="57144cdd369c05e8" providerId="LiveId" clId="{586F2C4D-E43A-4A59-BD79-FBF5904AB263}" dt="2026-05-18T03:22:54.648" v="76" actId="20577"/>
          <ac:spMkLst>
            <pc:docMk/>
            <pc:sldMk cId="546634431" sldId="276"/>
            <ac:spMk id="2" creationId="{58FACC37-D3C3-29F5-5FF7-8D6083A6B5FD}"/>
          </ac:spMkLst>
        </pc:spChg>
        <pc:spChg chg="mod">
          <ac:chgData name="于珍 黃" userId="57144cdd369c05e8" providerId="LiveId" clId="{586F2C4D-E43A-4A59-BD79-FBF5904AB263}" dt="2026-05-18T03:24:55.504" v="107" actId="12"/>
          <ac:spMkLst>
            <pc:docMk/>
            <pc:sldMk cId="546634431" sldId="276"/>
            <ac:spMk id="3" creationId="{D1775A96-8817-4FA3-FEFD-0E977020EC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手繪多邊形​​(F)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/>
        </p:nvSpPr>
        <p:spPr>
          <a:xfrm>
            <a:off x="3000375" y="1087404"/>
            <a:ext cx="6143625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30468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手繪多邊形：圖案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/>
        </p:nvSpPr>
        <p:spPr>
          <a:xfrm>
            <a:off x="3969261" y="2"/>
            <a:ext cx="1709807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6" name="手繪多邊形：圖案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/>
        </p:nvSpPr>
        <p:spPr>
          <a:xfrm>
            <a:off x="7656521" y="2"/>
            <a:ext cx="851300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8" name="橢圓​​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/>
        </p:nvSpPr>
        <p:spPr>
          <a:xfrm>
            <a:off x="1176783" y="514899"/>
            <a:ext cx="1795013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0" name="手繪多邊形：圖案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/>
        </p:nvSpPr>
        <p:spPr>
          <a:xfrm flipH="1">
            <a:off x="1" y="2949740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2" name="弧形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/>
        </p:nvSpPr>
        <p:spPr>
          <a:xfrm rot="16200000">
            <a:off x="644334" y="4713857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9906" y="2743200"/>
            <a:ext cx="4944618" cy="2386584"/>
          </a:xfrm>
        </p:spPr>
        <p:txBody>
          <a:bodyPr rtlCol="0" anchor="b"/>
          <a:lstStyle>
            <a:lvl1pPr algn="r">
              <a:defRPr sz="45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9906" y="5221224"/>
            <a:ext cx="4944618" cy="996696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87189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橢圓​​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/>
        </p:nvSpPr>
        <p:spPr>
          <a:xfrm>
            <a:off x="366892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/>
        </p:nvSpPr>
        <p:spPr>
          <a:xfrm rot="19809111">
            <a:off x="6512791" y="941149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4" name="橢圓​​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/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399032"/>
            <a:ext cx="2427732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114" y="1527048"/>
            <a:ext cx="3833622" cy="3931920"/>
          </a:xfrm>
        </p:spPr>
        <p:txBody>
          <a:bodyPr rtlCol="0" anchor="ctr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71450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342900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buNone/>
              <a:defRPr/>
            </a:lvl4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1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 2 張小圖片的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圖片版面配置區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359" y="1150210"/>
            <a:ext cx="1655285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1" name="圖片版面配置區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3475" y="2579684"/>
            <a:ext cx="2322605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365124"/>
            <a:ext cx="4354830" cy="132588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1825625"/>
            <a:ext cx="435483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71450">
              <a:lnSpc>
                <a:spcPct val="110000"/>
              </a:lnSpc>
              <a:defRPr sz="15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342900">
              <a:lnSpc>
                <a:spcPct val="110000"/>
              </a:lnSpc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514350">
              <a:lnSpc>
                <a:spcPct val="110000"/>
              </a:lnSpc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橢圓​​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/>
        </p:nvSpPr>
        <p:spPr>
          <a:xfrm>
            <a:off x="7687216" y="1555068"/>
            <a:ext cx="614477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/>
        </p:nvSpPr>
        <p:spPr>
          <a:xfrm>
            <a:off x="5692567" y="4034393"/>
            <a:ext cx="657528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82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橢圓​​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/>
        </p:nvSpPr>
        <p:spPr>
          <a:xfrm>
            <a:off x="2111947" y="148929"/>
            <a:ext cx="4920107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/>
        </p:nvSpPr>
        <p:spPr>
          <a:xfrm rot="9222429" flipV="1">
            <a:off x="1870589" y="-28502"/>
            <a:ext cx="5112197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4" name="橢圓​​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/>
        </p:nvSpPr>
        <p:spPr>
          <a:xfrm>
            <a:off x="6124063" y="5241988"/>
            <a:ext cx="569552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454" y="1380744"/>
            <a:ext cx="4169664" cy="2514600"/>
          </a:xfrm>
        </p:spPr>
        <p:txBody>
          <a:bodyPr rtlCol="0" anchor="b"/>
          <a:lstStyle>
            <a:lvl1pPr algn="ctr">
              <a:defRPr sz="45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9454" y="4078224"/>
            <a:ext cx="4169664" cy="1536192"/>
          </a:xfrm>
        </p:spPr>
        <p:txBody>
          <a:bodyPr rtlCol="0"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4966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365126"/>
            <a:ext cx="7886700" cy="13255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82" y="1911096"/>
            <a:ext cx="7372350" cy="385974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手繪多邊形：圖形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7870825" y="2"/>
            <a:ext cx="636996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8" name="手繪多邊形：圖案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92652" y="5717906"/>
            <a:ext cx="1328707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01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內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手繪多邊形：圖案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508875" y="4961136"/>
            <a:ext cx="173740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7" name="手繪多邊形：圖案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7870825" y="2"/>
            <a:ext cx="636996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1096"/>
            <a:ext cx="7886700" cy="385974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633380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圖片的引述投影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圖片版面配置區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0" name="標題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370600"/>
            <a:ext cx="444288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3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1478" y="4379976"/>
            <a:ext cx="3778758" cy="713232"/>
          </a:xfrm>
        </p:spPr>
        <p:txBody>
          <a:bodyPr rtlCol="0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1" name="日期版面配置區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2" name="頁尾版面配置區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/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3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手繪多邊形：圖案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508875" y="4961136"/>
            <a:ext cx="173740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9" name="手繪多邊形：圖案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7870825" y="2"/>
            <a:ext cx="636996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28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rtlCol="0" anchor="b"/>
          <a:lstStyle>
            <a:lvl1pPr marL="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 rtlCol="0">
            <a:normAutofit/>
          </a:bodyPr>
          <a:lstStyle>
            <a:lvl1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rtlCol="0" anchor="b"/>
          <a:lstStyle>
            <a:lvl1pPr marL="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預留位置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 rtlCol="0">
            <a:normAutofit/>
          </a:bodyPr>
          <a:lstStyle>
            <a:lvl1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手繪多邊形：圖案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508875" y="4961136"/>
            <a:ext cx="173740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1" name="手繪多邊形：圖案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951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 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2468880" cy="823912"/>
          </a:xfrm>
        </p:spPr>
        <p:txBody>
          <a:bodyPr rtlCol="0" anchor="b"/>
          <a:lstStyle>
            <a:lvl1pPr marL="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2468880" cy="3684588"/>
          </a:xfrm>
        </p:spPr>
        <p:txBody>
          <a:bodyPr rtlCol="0">
            <a:normAutofit/>
          </a:bodyPr>
          <a:lstStyle>
            <a:lvl1pPr>
              <a:defRPr sz="15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0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0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39846" y="1681163"/>
            <a:ext cx="2468880" cy="823912"/>
          </a:xfrm>
        </p:spPr>
        <p:txBody>
          <a:bodyPr rtlCol="0" anchor="b"/>
          <a:lstStyle>
            <a:lvl1pPr marL="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預留位置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9846" y="2505075"/>
            <a:ext cx="2468880" cy="3684588"/>
          </a:xfrm>
        </p:spPr>
        <p:txBody>
          <a:bodyPr rtlCol="0">
            <a:normAutofit/>
          </a:bodyPr>
          <a:lstStyle>
            <a:lvl1pPr>
              <a:defRPr sz="15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0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0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手繪多邊形：圖案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508875" y="4961136"/>
            <a:ext cx="173740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1" name="手繪多邊形：圖案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7870825" y="2"/>
            <a:ext cx="636996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2" name="文字預留位置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8756" y="1681163"/>
            <a:ext cx="2468880" cy="823912"/>
          </a:xfrm>
        </p:spPr>
        <p:txBody>
          <a:bodyPr rtlCol="0" anchor="b"/>
          <a:lstStyle>
            <a:lvl1pPr marL="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3" name="內容預留位置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48756" y="2505075"/>
            <a:ext cx="2468880" cy="3684588"/>
          </a:xfrm>
        </p:spPr>
        <p:txBody>
          <a:bodyPr rtlCol="0">
            <a:normAutofit/>
          </a:bodyPr>
          <a:lstStyle>
            <a:lvl1pPr>
              <a:defRPr sz="15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0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0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9730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 2 張中型圖片的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圖片版面配置區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44" y="2727730"/>
            <a:ext cx="3218055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1" name="圖片版面配置區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6207" y="1"/>
            <a:ext cx="2639483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0" name="橢圓​​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/>
        </p:nvSpPr>
        <p:spPr>
          <a:xfrm>
            <a:off x="7815427" y="1364733"/>
            <a:ext cx="710616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/>
        </p:nvSpPr>
        <p:spPr>
          <a:xfrm rot="4759070" flipV="1">
            <a:off x="4022955" y="-170491"/>
            <a:ext cx="4021193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65760"/>
            <a:ext cx="3840480" cy="132588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1828800"/>
            <a:ext cx="3819906" cy="4352544"/>
          </a:xfrm>
        </p:spPr>
        <p:txBody>
          <a:bodyPr rtlCol="0"/>
          <a:lstStyle>
            <a:lvl1pPr marL="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71450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342900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514350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258445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結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橢圓​​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/>
        </p:nvSpPr>
        <p:spPr>
          <a:xfrm>
            <a:off x="530545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2" name="手繪多邊形：圖案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/>
        </p:nvSpPr>
        <p:spPr>
          <a:xfrm flipH="1">
            <a:off x="397897" y="1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4" name="手繪多邊形：圖案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/>
        </p:nvSpPr>
        <p:spPr>
          <a:xfrm flipH="1">
            <a:off x="2971134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6" name="手繪多邊形：圖案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/>
        </p:nvSpPr>
        <p:spPr>
          <a:xfrm flipH="1">
            <a:off x="0" y="2936831"/>
            <a:ext cx="119806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8" name="手繪多邊形：圖案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/>
        </p:nvSpPr>
        <p:spPr>
          <a:xfrm flipH="1">
            <a:off x="0" y="5835650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0" name="手繪多邊形：圖案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/>
        </p:nvSpPr>
        <p:spPr>
          <a:xfrm flipH="1">
            <a:off x="2553792" y="5717906"/>
            <a:ext cx="1328707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2" name="手繪多邊形：圖案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/>
        </p:nvSpPr>
        <p:spPr>
          <a:xfrm flipH="1">
            <a:off x="3099729" y="6258756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1234440"/>
            <a:ext cx="2427732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79842" y="6356351"/>
            <a:ext cx="637794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內容預留位置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482" y="2551176"/>
            <a:ext cx="3531870" cy="1755648"/>
          </a:xfrm>
        </p:spPr>
        <p:txBody>
          <a:bodyPr rtlCol="0"/>
          <a:lstStyle>
            <a:lvl1pPr marL="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71450"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342900"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3143538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手繪多邊形：圖案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508875" y="4961136"/>
            <a:ext cx="173740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6" name="手繪多邊形：圖案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23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手繪多邊形：圖案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508875" y="4961136"/>
            <a:ext cx="173740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6" name="手繪多邊形：圖案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7870825" y="2"/>
            <a:ext cx="636996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36204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rtlCol="0" anchor="b"/>
          <a:lstStyle>
            <a:lvl1pPr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 rtlCol="0"/>
          <a:lstStyle>
            <a:lvl1pPr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1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5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5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 rtlCol="0"/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手繪多邊形：圖案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508875" y="4961136"/>
            <a:ext cx="173740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9" name="手繪多邊形：圖案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7870825" y="2"/>
            <a:ext cx="636996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9034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rtlCol="0" anchor="b"/>
          <a:lstStyle>
            <a:lvl1pPr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預留位置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/>
          <a:lstStyle>
            <a:lvl1pPr marL="0" indent="0"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 rtlCol="0"/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手繪多邊形：圖案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508875" y="4961136"/>
            <a:ext cx="1737401" cy="719652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9" name="手繪多邊形：圖案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7870825" y="2"/>
            <a:ext cx="636996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59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預留位置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none" spc="0" baseline="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2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Blockchain Programming Final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DApp Development Project</a:t>
            </a:r>
          </a:p>
          <a:p>
            <a:r>
              <a:rPr lang="en-US"/>
              <a:t>Focus on Smart Contract Design</a:t>
            </a:r>
          </a:p>
          <a:p>
            <a:r>
              <a:rPr lang="en-US"/>
              <a:t>Frontend Integration + Mock AI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Design a complete </a:t>
            </a:r>
            <a:r>
              <a:rPr dirty="0" err="1"/>
              <a:t>DApp</a:t>
            </a:r>
            <a:r>
              <a:rPr dirty="0"/>
              <a:t> workflow</a:t>
            </a:r>
          </a:p>
          <a:p>
            <a:r>
              <a:rPr dirty="0"/>
              <a:t>Apply Solidity programming concepts</a:t>
            </a:r>
          </a:p>
          <a:p>
            <a:r>
              <a:rPr dirty="0"/>
              <a:t>Integrate frontend with blockchain</a:t>
            </a:r>
          </a:p>
          <a:p>
            <a:r>
              <a:rPr dirty="0"/>
              <a:t>Practice debugging and system explanation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Project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Smart Contract (Main Focus)</a:t>
            </a:r>
          </a:p>
          <a:p>
            <a:pPr marL="0" indent="0">
              <a:buNone/>
            </a:pPr>
            <a:r>
              <a:rPr dirty="0"/>
              <a:t>2. Simple Frontend</a:t>
            </a:r>
          </a:p>
          <a:p>
            <a:pPr marL="0" indent="0">
              <a:buNone/>
            </a:pPr>
            <a:r>
              <a:rPr dirty="0"/>
              <a:t>3. Mock AI Server (Bonus)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State variables</a:t>
            </a:r>
          </a:p>
          <a:p>
            <a:r>
              <a:rPr dirty="0"/>
              <a:t>Struct / Mapping / Array</a:t>
            </a:r>
          </a:p>
          <a:p>
            <a:r>
              <a:rPr dirty="0"/>
              <a:t>Events</a:t>
            </a:r>
          </a:p>
          <a:p>
            <a:r>
              <a:rPr dirty="0"/>
              <a:t>Modifier</a:t>
            </a:r>
          </a:p>
          <a:p>
            <a:r>
              <a:rPr dirty="0"/>
              <a:t>Require / Revert</a:t>
            </a:r>
          </a:p>
          <a:p>
            <a:r>
              <a:rPr dirty="0"/>
              <a:t>Role-based permission</a:t>
            </a:r>
          </a:p>
          <a:p>
            <a:r>
              <a:rPr dirty="0"/>
              <a:t>Workflow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/ CSS / JavaScript</a:t>
            </a:r>
          </a:p>
          <a:p>
            <a:r>
              <a:t>ethers.js</a:t>
            </a:r>
          </a:p>
          <a:p>
            <a:r>
              <a:t>MetaMask integration</a:t>
            </a:r>
          </a:p>
          <a:p>
            <a:r>
              <a:t>Read/write blockchain data</a:t>
            </a:r>
          </a:p>
          <a:p>
            <a:r>
              <a:t>Display transaction results and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AI Server (Bonus)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Node.js + Express</a:t>
            </a:r>
            <a:r>
              <a:rPr lang="en-US" dirty="0"/>
              <a:t> or other</a:t>
            </a:r>
            <a:endParaRPr dirty="0"/>
          </a:p>
          <a:p>
            <a:r>
              <a:rPr dirty="0"/>
              <a:t>AI recommendation</a:t>
            </a:r>
          </a:p>
          <a:p>
            <a:r>
              <a:rPr dirty="0"/>
              <a:t>AI validation</a:t>
            </a:r>
          </a:p>
          <a:p>
            <a:r>
              <a:rPr dirty="0"/>
              <a:t>AI summary generation</a:t>
            </a:r>
          </a:p>
          <a:p>
            <a:r>
              <a:rPr dirty="0"/>
              <a:t>Focus on integration,</a:t>
            </a:r>
            <a:r>
              <a:rPr b="1" dirty="0"/>
              <a:t> not </a:t>
            </a:r>
            <a:r>
              <a:rPr dirty="0"/>
              <a:t>real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Projects must contain workflows</a:t>
            </a:r>
          </a:p>
          <a:p>
            <a:r>
              <a:rPr dirty="0"/>
              <a:t>Include state transitions</a:t>
            </a:r>
          </a:p>
          <a:p>
            <a:r>
              <a:rPr dirty="0"/>
              <a:t>Handle edge cases</a:t>
            </a:r>
          </a:p>
          <a:p>
            <a:r>
              <a:rPr dirty="0"/>
              <a:t>Demonstrate event-driven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At least </a:t>
            </a:r>
            <a:r>
              <a:rPr lang="en-US" dirty="0"/>
              <a:t>2</a:t>
            </a:r>
            <a:r>
              <a:rPr dirty="0"/>
              <a:t> events</a:t>
            </a:r>
          </a:p>
          <a:p>
            <a:r>
              <a:rPr dirty="0"/>
              <a:t>Frontend must display event results</a:t>
            </a:r>
          </a:p>
          <a:p>
            <a:r>
              <a:rPr dirty="0"/>
              <a:t>Events should reflect workflow status</a:t>
            </a:r>
          </a:p>
          <a:p>
            <a:r>
              <a:rPr dirty="0"/>
              <a:t>Use indexed fields appropriately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action prevention</a:t>
            </a:r>
          </a:p>
          <a:p>
            <a:r>
              <a:t>Unauthorized access control</a:t>
            </a:r>
          </a:p>
          <a:p>
            <a:r>
              <a:t>Invalid status protection</a:t>
            </a:r>
          </a:p>
          <a:p>
            <a:r>
              <a:t>Require / Revert demonstration during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group: 10 minutes</a:t>
            </a:r>
          </a:p>
          <a:p>
            <a:r>
              <a:t>7 min Demo + 3 min Q&amp;A</a:t>
            </a:r>
          </a:p>
          <a:p>
            <a:r>
              <a:t>Explain architecture and workflow</a:t>
            </a:r>
          </a:p>
          <a:p>
            <a:r>
              <a:t>Demonstrate smart contract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Smart Contract: 50%</a:t>
            </a:r>
          </a:p>
          <a:p>
            <a:r>
              <a:rPr dirty="0"/>
              <a:t>Frontend Integration: 20%</a:t>
            </a:r>
          </a:p>
          <a:p>
            <a:r>
              <a:rPr dirty="0"/>
              <a:t>Demo &amp; Presentation: 15%</a:t>
            </a:r>
          </a:p>
          <a:p>
            <a:r>
              <a:rPr dirty="0"/>
              <a:t>Oral Defense &amp; </a:t>
            </a:r>
            <a:r>
              <a:rPr lang="en-US" dirty="0"/>
              <a:t>AI Log</a:t>
            </a:r>
            <a:r>
              <a:rPr dirty="0"/>
              <a:t>: 15%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 Scoring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Functionality and workflow</a:t>
            </a:r>
          </a:p>
          <a:p>
            <a:r>
              <a:t>Solidity design quality</a:t>
            </a:r>
          </a:p>
          <a:p>
            <a:r>
              <a:t>Event and modifier usage</a:t>
            </a:r>
          </a:p>
          <a:p>
            <a:r>
              <a:t>Error handling</a:t>
            </a:r>
          </a:p>
          <a:p>
            <a:r>
              <a:t>Code readability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Scoring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Wallet connection</a:t>
            </a:r>
          </a:p>
          <a:p>
            <a:r>
              <a:t>Contract interaction</a:t>
            </a:r>
          </a:p>
          <a:p>
            <a:r>
              <a:t>Transaction handling</a:t>
            </a:r>
          </a:p>
          <a:p>
            <a:r>
              <a:t>Event display</a:t>
            </a:r>
          </a:p>
          <a:p>
            <a:r>
              <a:t>No UI beauty 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Usage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assistance is allowed</a:t>
            </a:r>
          </a:p>
          <a:p>
            <a:r>
              <a:t>Students must understand all code</a:t>
            </a:r>
          </a:p>
          <a:p>
            <a:r>
              <a:t>AI-generated full projects are not acceptable</a:t>
            </a:r>
          </a:p>
          <a:p>
            <a:r>
              <a:t>Students must explain debugging process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Submission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Source code</a:t>
            </a:r>
          </a:p>
          <a:p>
            <a:r>
              <a:rPr dirty="0"/>
              <a:t>AI usage report</a:t>
            </a:r>
          </a:p>
          <a:p>
            <a:r>
              <a:rPr dirty="0"/>
              <a:t>Presentation slides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FACC37-D3C3-29F5-5FF7-8D6083A6B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Project Topic Suggestion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75A96-8817-4FA3-FEFD-0E977020E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zh-TW" dirty="0"/>
              <a:t>1. Campus Management D</a:t>
            </a:r>
            <a:r>
              <a:rPr lang="en-US" altLang="zh-TW" dirty="0"/>
              <a:t>a</a:t>
            </a:r>
            <a:r>
              <a:rPr lang="zh-TW" altLang="zh-TW" dirty="0"/>
              <a:t>pps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2. Education &amp; Learning D</a:t>
            </a:r>
            <a:r>
              <a:rPr lang="en-US" altLang="zh-TW" dirty="0"/>
              <a:t>a</a:t>
            </a:r>
            <a:r>
              <a:rPr lang="zh-TW" altLang="zh-TW" dirty="0"/>
              <a:t>pps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3. Marketplace D</a:t>
            </a:r>
            <a:r>
              <a:rPr lang="en-US" altLang="zh-TW" dirty="0"/>
              <a:t>a</a:t>
            </a:r>
            <a:r>
              <a:rPr lang="zh-TW" altLang="zh-TW" dirty="0"/>
              <a:t>pps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4. Event &amp; Ticket D</a:t>
            </a:r>
            <a:r>
              <a:rPr lang="en-US" altLang="zh-TW" dirty="0"/>
              <a:t>a</a:t>
            </a:r>
            <a:r>
              <a:rPr lang="zh-TW" altLang="zh-TW" dirty="0"/>
              <a:t>pps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5. Finance &amp; Reward D</a:t>
            </a:r>
            <a:r>
              <a:rPr lang="en-US" altLang="zh-TW" dirty="0"/>
              <a:t>a</a:t>
            </a:r>
            <a:r>
              <a:rPr lang="zh-TW" altLang="zh-TW" dirty="0"/>
              <a:t>pps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6. Gaming D</a:t>
            </a:r>
            <a:r>
              <a:rPr lang="en-US" altLang="zh-TW" dirty="0"/>
              <a:t>a</a:t>
            </a:r>
            <a:r>
              <a:rPr lang="zh-TW" altLang="zh-TW" dirty="0"/>
              <a:t>pps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7. Social Platform D</a:t>
            </a:r>
            <a:r>
              <a:rPr lang="en-US" altLang="zh-TW" dirty="0"/>
              <a:t>a</a:t>
            </a:r>
            <a:r>
              <a:rPr lang="zh-TW" altLang="zh-TW" dirty="0"/>
              <a:t>pps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8. Healthcare &amp; Wellness D</a:t>
            </a:r>
            <a:r>
              <a:rPr lang="en-US" altLang="zh-TW" dirty="0"/>
              <a:t>a</a:t>
            </a:r>
            <a:r>
              <a:rPr lang="zh-TW" altLang="zh-TW" dirty="0"/>
              <a:t>pps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9. Logistics &amp; Resource Sharing D</a:t>
            </a:r>
            <a:r>
              <a:rPr lang="en-US" altLang="zh-TW" dirty="0"/>
              <a:t>a</a:t>
            </a:r>
            <a:r>
              <a:rPr lang="zh-TW" altLang="zh-TW" dirty="0"/>
              <a:t>pps</a:t>
            </a: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10. Identity &amp; Verification DApps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6634431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10_TF78504181_Win32" id="{5A73FD0D-F961-484E-975C-E11BF2E57132}" vid="{7160F523-0130-4CEB-8262-3E2B2DD8B5A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Lesson-11-AI API and Blokchain Data Interaction</Template>
  <TotalTime>12</TotalTime>
  <Words>367</Words>
  <Application>Microsoft Office PowerPoint</Application>
  <PresentationFormat>如螢幕大小 (4:3)</PresentationFormat>
  <Paragraphs>90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9" baseType="lpstr">
      <vt:lpstr>Microsoft JhengHei UI</vt:lpstr>
      <vt:lpstr>Arial</vt:lpstr>
      <vt:lpstr>ShapesVTI</vt:lpstr>
      <vt:lpstr>Blockchain Programming Final Project</vt:lpstr>
      <vt:lpstr>Project Goals</vt:lpstr>
      <vt:lpstr>Required Project Components</vt:lpstr>
      <vt:lpstr>Smart Contract Requirements</vt:lpstr>
      <vt:lpstr>Frontend Requirements</vt:lpstr>
      <vt:lpstr>Mock AI Server (Bonus)</vt:lpstr>
      <vt:lpstr>Project Design Principles</vt:lpstr>
      <vt:lpstr>Event Requirements</vt:lpstr>
      <vt:lpstr>Error Handling Requirements</vt:lpstr>
      <vt:lpstr>Presentation Requirements</vt:lpstr>
      <vt:lpstr>Evaluation Criteria</vt:lpstr>
      <vt:lpstr>Smart Contract Scoring Details</vt:lpstr>
      <vt:lpstr>Frontend Scoring Details</vt:lpstr>
      <vt:lpstr>AI Usage Policy</vt:lpstr>
      <vt:lpstr>Required Submission Materials</vt:lpstr>
      <vt:lpstr>Project Topic Suggestion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于珍 黃</cp:lastModifiedBy>
  <cp:revision>1</cp:revision>
  <dcterms:created xsi:type="dcterms:W3CDTF">2013-01-27T09:14:16Z</dcterms:created>
  <dcterms:modified xsi:type="dcterms:W3CDTF">2026-05-18T03:25:00Z</dcterms:modified>
  <cp:category/>
</cp:coreProperties>
</file>